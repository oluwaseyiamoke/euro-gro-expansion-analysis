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64" r:id="rId8"/>
    <p:sldId id="266" r:id="rId9"/>
    <p:sldId id="273" r:id="rId10"/>
    <p:sldId id="263" r:id="rId11"/>
    <p:sldId id="265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yRvEk0MC54VHBijbsI3GDo5JF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451C6A70-22F8-610E-BBD3-96AE73A8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>
            <a:extLst>
              <a:ext uri="{FF2B5EF4-FFF2-40B4-BE49-F238E27FC236}">
                <a16:creationId xmlns:a16="http://schemas.microsoft.com/office/drawing/2014/main" id="{4CD4C18C-F780-D1A3-97E3-6699AA1B0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>
            <a:extLst>
              <a:ext uri="{FF2B5EF4-FFF2-40B4-BE49-F238E27FC236}">
                <a16:creationId xmlns:a16="http://schemas.microsoft.com/office/drawing/2014/main" id="{1C707377-550C-ECE9-9975-81DD4519D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1457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d9748ba5b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d9748ba5b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5d9748ba5b_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90" name="Google Shape;90;p1" descr="A close-up of a brochur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620"/>
            <a:ext cx="91440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>
                <a:solidFill>
                  <a:srgbClr val="FFFFFF"/>
                </a:solidFill>
              </a:rPr>
              <a:t>Executive Summary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812499" y="2318197"/>
            <a:ext cx="72930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800" dirty="0">
                <a:effectLst/>
              </a:rPr>
              <a:t>This report presents the outcome of a </a:t>
            </a:r>
            <a:r>
              <a:rPr lang="en-US" sz="1800" dirty="0"/>
              <a:t>2-week</a:t>
            </a:r>
            <a:r>
              <a:rPr lang="en-US" sz="1800" dirty="0">
                <a:effectLst/>
              </a:rPr>
              <a:t> strategic feasibility assessment for </a:t>
            </a:r>
            <a:r>
              <a:rPr lang="en-US" sz="1800" dirty="0" err="1">
                <a:effectLst/>
              </a:rPr>
              <a:t>EuroGro</a:t>
            </a:r>
            <a:r>
              <a:rPr lang="en-US" sz="1800" dirty="0">
                <a:effectLst/>
              </a:rPr>
              <a:t> Retail Group’s proposed expansion into Lisbon, Portugal. The project evaluated market potential, financial viability, human resource readiness, and operational risks. 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effectLst/>
            </a:endParaRP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800" dirty="0">
                <a:effectLst/>
              </a:rPr>
              <a:t>Based on evidence drawn from customer analytics, financial modelling, HR benchmarking, and stakeholder input, the feasibility report recommendation is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 decision; </a:t>
            </a:r>
            <a:r>
              <a:rPr lang="en-US" sz="1600" dirty="0">
                <a:effectLst/>
              </a:rPr>
              <a:t>to</a:t>
            </a:r>
            <a:r>
              <a:rPr lang="en-US" sz="1800" dirty="0">
                <a:effectLst/>
              </a:rPr>
              <a:t> </a:t>
            </a:r>
            <a:r>
              <a:rPr lang="en-US" sz="1800" b="1" dirty="0">
                <a:effectLst/>
              </a:rPr>
              <a:t>proceed with the Lisbon expansion</a:t>
            </a:r>
            <a:r>
              <a:rPr lang="en-US" sz="1800" dirty="0">
                <a:effectLst/>
              </a:rPr>
              <a:t> under the </a:t>
            </a:r>
            <a:r>
              <a:rPr lang="en-US" sz="1800" b="1" dirty="0">
                <a:effectLst/>
              </a:rPr>
              <a:t>Base Case scenario</a:t>
            </a:r>
            <a:r>
              <a:rPr lang="en-US" sz="1800" dirty="0">
                <a:effectLst/>
              </a:rPr>
              <a:t>, with proactive risk mitigations in place.</a:t>
            </a:r>
            <a:endParaRPr lang="en-US" sz="1800" dirty="0"/>
          </a:p>
        </p:txBody>
      </p:sp>
      <p:pic>
        <p:nvPicPr>
          <p:cNvPr id="102" name="Google Shape;102;p3" descr="Report Ad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494" y="161282"/>
            <a:ext cx="1830062" cy="142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>
                <a:solidFill>
                  <a:srgbClr val="FFFFFF"/>
                </a:solidFill>
              </a:rPr>
              <a:t>Project Overview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34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  <a:p>
            <a:pPr marL="0" lvl="0" indent="0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b="1"/>
              <a:t>Project Title</a:t>
            </a:r>
            <a:r>
              <a:rPr lang="en-US" sz="1700"/>
              <a:t>: Strategic Expansion Feasibility – Lisbon</a:t>
            </a:r>
            <a:endParaRPr/>
          </a:p>
          <a:p>
            <a:pPr marL="0" lvl="0" indent="0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b="1"/>
              <a:t>Sponsor: </a:t>
            </a:r>
            <a:r>
              <a:rPr lang="en-US" sz="1700"/>
              <a:t>EuroGro Executive Leadership</a:t>
            </a:r>
            <a:endParaRPr sz="1700"/>
          </a:p>
          <a:p>
            <a:pPr marL="0" lvl="0" indent="0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b="1"/>
              <a:t>Project Manager:</a:t>
            </a:r>
            <a:r>
              <a:rPr lang="en-US" sz="1700"/>
              <a:t> Agile Project Managers</a:t>
            </a:r>
            <a:endParaRPr sz="1700"/>
          </a:p>
          <a:p>
            <a:pPr marL="0" lvl="0" indent="0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b="1"/>
              <a:t>Project Duration</a:t>
            </a:r>
            <a:r>
              <a:rPr lang="en-US" sz="1700"/>
              <a:t>: 2 Weeks</a:t>
            </a:r>
            <a:endParaRPr/>
          </a:p>
          <a:p>
            <a:pPr marL="0" lvl="0" indent="0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b="1"/>
              <a:t>Project Team:</a:t>
            </a:r>
            <a:r>
              <a:rPr lang="en-US" sz="1700"/>
              <a:t> Business Analyst, Data Analyst, Financial Analyst, HR Analyst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</a:rPr>
              <a:t>Project Objectives</a:t>
            </a:r>
            <a:endParaRPr b="1" dirty="0"/>
          </a:p>
        </p:txBody>
      </p:sp>
      <p:grpSp>
        <p:nvGrpSpPr>
          <p:cNvPr id="123" name="Google Shape;123;p4"/>
          <p:cNvGrpSpPr/>
          <p:nvPr/>
        </p:nvGrpSpPr>
        <p:grpSpPr>
          <a:xfrm>
            <a:off x="1001631" y="2112790"/>
            <a:ext cx="7158691" cy="4192382"/>
            <a:chOff x="518589" y="211"/>
            <a:chExt cx="7158691" cy="4192382"/>
          </a:xfrm>
        </p:grpSpPr>
        <p:sp>
          <p:nvSpPr>
            <p:cNvPr id="124" name="Google Shape;124;p4"/>
            <p:cNvSpPr/>
            <p:nvPr/>
          </p:nvSpPr>
          <p:spPr>
            <a:xfrm>
              <a:off x="827085" y="211"/>
              <a:ext cx="965039" cy="965039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1032749" y="205875"/>
              <a:ext cx="553710" cy="5537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18589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518589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VALIDATE LISBON AS A STRATEGIC MARKET ENTRY POINT.</a:t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2685972" y="211"/>
              <a:ext cx="965039" cy="96503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2891636" y="205875"/>
              <a:ext cx="553710" cy="5537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2377476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2377476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ESTIMATE CAPITAL AND OPERATIONAL EXPENDITURES, BREAK-EVEN POINT &amp; ROI  UNDER DIFFERENT SCENARIOS</a:t>
              </a:r>
              <a:endPara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544859" y="211"/>
              <a:ext cx="965039" cy="96503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4750523" y="205875"/>
              <a:ext cx="553710" cy="5537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4236363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4236363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ASSESS THE LOCAL TALENT MARKET AND HR COMPLIANCE REQUIREMENTS.</a:t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403746" y="211"/>
              <a:ext cx="965039" cy="965039"/>
            </a:xfrm>
            <a:prstGeom prst="ellipse">
              <a:avLst/>
            </a:prstGeom>
            <a:solidFill>
              <a:srgbClr val="49AC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6609410" y="205875"/>
              <a:ext cx="553710" cy="5537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6095249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6095249" y="1265836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IDENTIFY INTERNAL AND EXTERNAL STAKEHOLDERS AND ELICIT REQUIREMENTS FOR BUSINESS ALIGNMENT.</a:t>
              </a:r>
              <a:endPara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615415" y="2294156"/>
              <a:ext cx="965039" cy="965039"/>
            </a:xfrm>
            <a:prstGeom prst="ellipse">
              <a:avLst/>
            </a:prstGeom>
            <a:solidFill>
              <a:srgbClr val="F79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3821080" y="2499820"/>
              <a:ext cx="553710" cy="5537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3306919" y="3559781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3306919" y="3559781"/>
              <a:ext cx="1582031" cy="632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DELIVER DATA-DRIVEN RECOMMENDATIONS TO LEADERSHIP.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8313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244061"/>
                </a:solidFill>
              </a:rPr>
              <a:t>Methodology</a:t>
            </a:r>
            <a:endParaRPr dirty="0">
              <a:solidFill>
                <a:srgbClr val="244061"/>
              </a:solidFill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3546039" y="1132114"/>
            <a:ext cx="0" cy="5717573"/>
          </a:xfrm>
          <a:prstGeom prst="straightConnector1">
            <a:avLst/>
          </a:prstGeom>
          <a:noFill/>
          <a:ln w="25400" cap="sq" cmpd="sng">
            <a:solidFill>
              <a:srgbClr val="244061"/>
            </a:solidFill>
            <a:prstDash val="solid"/>
            <a:bevel/>
            <a:headEnd type="none" w="sm" len="sm"/>
            <a:tailEnd type="none" w="sm" len="sm"/>
          </a:ln>
        </p:spPr>
      </p:cxnSp>
      <p:grpSp>
        <p:nvGrpSpPr>
          <p:cNvPr id="151" name="Google Shape;151;p5"/>
          <p:cNvGrpSpPr/>
          <p:nvPr/>
        </p:nvGrpSpPr>
        <p:grpSpPr>
          <a:xfrm>
            <a:off x="3831401" y="1075166"/>
            <a:ext cx="4683949" cy="5580614"/>
            <a:chOff x="0" y="4366"/>
            <a:chExt cx="4683949" cy="5580614"/>
          </a:xfrm>
        </p:grpSpPr>
        <p:sp>
          <p:nvSpPr>
            <p:cNvPr id="152" name="Google Shape;152;p5"/>
            <p:cNvSpPr/>
            <p:nvPr/>
          </p:nvSpPr>
          <p:spPr>
            <a:xfrm>
              <a:off x="0" y="4366"/>
              <a:ext cx="4683949" cy="93010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281355" y="213639"/>
              <a:ext cx="511556" cy="51155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074268" y="4366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1074268" y="4366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425" tIns="98425" rIns="98425" bIns="98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Data-driven Market Research using Power BI dashboards and data segmentation.</a:t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1166994"/>
              <a:ext cx="4683949" cy="93010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81355" y="1376267"/>
              <a:ext cx="511556" cy="51155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1074268" y="1166994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1074268" y="1166994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425" tIns="98425" rIns="98425" bIns="98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Financial Modelling of three scenarios (Optimistic, Base, Pessimistic) using Excel</a:t>
              </a:r>
              <a:r>
                <a:rPr lang="en-U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2329622"/>
              <a:ext cx="4683949" cy="93010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281355" y="2538895"/>
              <a:ext cx="511556" cy="51155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074268" y="2329622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1074268" y="2329622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425" tIns="98425" rIns="98425" bIns="98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HR Benchmarking with labour law reviews and hiring feasibility in Lisbon.</a:t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492250"/>
              <a:ext cx="4683949" cy="93010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281355" y="3701523"/>
              <a:ext cx="511556" cy="51155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074268" y="3492250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 txBox="1"/>
            <p:nvPr/>
          </p:nvSpPr>
          <p:spPr>
            <a:xfrm>
              <a:off x="1074268" y="3492250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425" tIns="98425" rIns="98425" bIns="98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Stakeholder Interviews with HR, Financial Analyst, and Project Manager.</a:t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4654878"/>
              <a:ext cx="4683949" cy="93010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81355" y="4864151"/>
              <a:ext cx="511556" cy="51155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1074268" y="4654878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1074268" y="4654878"/>
              <a:ext cx="3609680" cy="930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425" tIns="98425" rIns="98425" bIns="98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Agile Tools used are Jira, Google Meet &amp; Google Drive for collaboration and </a:t>
              </a:r>
              <a:r>
                <a:rPr lang="en-US" sz="15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workflow </a:t>
              </a: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management.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</a:rPr>
              <a:t>Stakeholder Needs</a:t>
            </a:r>
            <a:endParaRPr dirty="0"/>
          </a:p>
        </p:txBody>
      </p:sp>
      <p:grpSp>
        <p:nvGrpSpPr>
          <p:cNvPr id="253" name="Google Shape;253;p11"/>
          <p:cNvGrpSpPr/>
          <p:nvPr/>
        </p:nvGrpSpPr>
        <p:grpSpPr>
          <a:xfrm>
            <a:off x="483433" y="2251685"/>
            <a:ext cx="8195087" cy="3914592"/>
            <a:chOff x="391" y="139106"/>
            <a:chExt cx="8195087" cy="3914592"/>
          </a:xfrm>
        </p:grpSpPr>
        <p:sp>
          <p:nvSpPr>
            <p:cNvPr id="254" name="Google Shape;254;p11"/>
            <p:cNvSpPr/>
            <p:nvPr/>
          </p:nvSpPr>
          <p:spPr>
            <a:xfrm>
              <a:off x="391" y="139106"/>
              <a:ext cx="2023213" cy="3865468"/>
            </a:xfrm>
            <a:prstGeom prst="rect">
              <a:avLst/>
            </a:prstGeom>
            <a:solidFill>
              <a:srgbClr val="BF504D"/>
            </a:solidFill>
            <a:ln w="25400" cap="flat" cmpd="sng">
              <a:solidFill>
                <a:srgbClr val="BF50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 txBox="1"/>
            <p:nvPr/>
          </p:nvSpPr>
          <p:spPr>
            <a:xfrm>
              <a:off x="391" y="1685293"/>
              <a:ext cx="2023213" cy="2319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0" rIns="188150" bIns="330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Human Resources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Define job roles and salary benchmarks for Lisbon-based staff.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Localised onboarding and legal-compliant HR processes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 Track hiring KPIs and ensure Portuguese labour law adherence</a:t>
              </a: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59548" y="928900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1"/>
            <p:cNvSpPr txBox="1"/>
            <p:nvPr/>
          </p:nvSpPr>
          <p:spPr>
            <a:xfrm>
              <a:off x="59548" y="928900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165100" rIns="18815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lang="en-US" sz="4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2175996" y="139106"/>
              <a:ext cx="1904899" cy="3891207"/>
            </a:xfrm>
            <a:prstGeom prst="rect">
              <a:avLst/>
            </a:prstGeom>
            <a:solidFill>
              <a:srgbClr val="BC8250"/>
            </a:solidFill>
            <a:ln w="25400" cap="flat" cmpd="sng">
              <a:solidFill>
                <a:srgbClr val="BC82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1"/>
            <p:cNvSpPr txBox="1"/>
            <p:nvPr/>
          </p:nvSpPr>
          <p:spPr>
            <a:xfrm>
              <a:off x="2175996" y="1695589"/>
              <a:ext cx="1904899" cy="23347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0" rIns="188150" bIns="330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Finance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Maintain a live CapEx/OpEx model with scenario forecasting.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Track category-level costs and present ROI, break-even data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 Automate financial reporting and integrate data into Power BI</a:t>
              </a: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2175996" y="941770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 txBox="1"/>
            <p:nvPr/>
          </p:nvSpPr>
          <p:spPr>
            <a:xfrm>
              <a:off x="2175996" y="941770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165100" rIns="18815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lang="en-US" sz="4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4260204" y="139106"/>
              <a:ext cx="1851067" cy="3869537"/>
            </a:xfrm>
            <a:prstGeom prst="rect">
              <a:avLst/>
            </a:prstGeom>
            <a:solidFill>
              <a:srgbClr val="BBB054"/>
            </a:solidFill>
            <a:ln w="25400" cap="flat" cmpd="sng">
              <a:solidFill>
                <a:srgbClr val="BBB05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 txBox="1"/>
            <p:nvPr/>
          </p:nvSpPr>
          <p:spPr>
            <a:xfrm>
              <a:off x="4260204" y="1686921"/>
              <a:ext cx="1851067" cy="2321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0" rIns="188150" bIns="330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&amp; Marketing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1. </a:t>
              </a: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Segment customers by demographics and behaviour (personas).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Align campaigns with customer journey stages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 Support pricing strategy based on income and purchase frequency</a:t>
              </a: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4233288" y="930935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 txBox="1"/>
            <p:nvPr/>
          </p:nvSpPr>
          <p:spPr>
            <a:xfrm>
              <a:off x="4233288" y="930935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165100" rIns="18815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lang="en-US" sz="4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290579" y="139106"/>
              <a:ext cx="1904899" cy="3914591"/>
            </a:xfrm>
            <a:prstGeom prst="rect">
              <a:avLst/>
            </a:prstGeom>
            <a:solidFill>
              <a:srgbClr val="99B958"/>
            </a:solidFill>
            <a:ln w="25400" cap="flat" cmpd="sng">
              <a:solidFill>
                <a:srgbClr val="99B9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 txBox="1"/>
            <p:nvPr/>
          </p:nvSpPr>
          <p:spPr>
            <a:xfrm>
              <a:off x="6290579" y="1704943"/>
              <a:ext cx="1904899" cy="2348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0" rIns="188150" bIns="330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Store Operations &amp; IT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Configure POS for loyalty integration, self-checkout, and multilingual UI.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Align store layout to traffic patterns and organic-first shelf logic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 Ensure systems uptime (&gt;99.5%) and GDPR-compliant data handling</a:t>
              </a: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290579" y="953462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 txBox="1"/>
            <p:nvPr/>
          </p:nvSpPr>
          <p:spPr>
            <a:xfrm>
              <a:off x="6290579" y="953462"/>
              <a:ext cx="1904899" cy="914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150" tIns="165100" rIns="18815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Calibri"/>
                <a:buNone/>
              </a:pPr>
              <a:r>
                <a:rPr lang="en-US" sz="4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4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-19664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0">
                <a:srgbClr val="4F81BD">
                  <a:alpha val="28627"/>
                </a:srgbClr>
              </a:gs>
              <a:gs pos="2000">
                <a:srgbClr val="4F81BD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 rot="-964587">
            <a:off x="-376302" y="969718"/>
            <a:ext cx="292526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</a:rPr>
              <a:t>Key Findings:</a:t>
            </a:r>
            <a:br>
              <a:rPr lang="en-US" sz="3500" b="1" dirty="0">
                <a:solidFill>
                  <a:srgbClr val="FFFFFF"/>
                </a:solidFill>
              </a:rPr>
            </a:br>
            <a:r>
              <a:rPr lang="en-US" sz="3500" b="1" dirty="0">
                <a:solidFill>
                  <a:srgbClr val="FFFFFF"/>
                </a:solidFill>
              </a:rPr>
              <a:t>Finance</a:t>
            </a:r>
            <a:endParaRPr sz="35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endParaRPr dirty="0"/>
          </a:p>
        </p:txBody>
      </p:sp>
      <p:sp>
        <p:nvSpPr>
          <p:cNvPr id="218" name="Google Shape;218;p9"/>
          <p:cNvSpPr txBox="1">
            <a:spLocks noGrp="1"/>
          </p:cNvSpPr>
          <p:nvPr>
            <p:ph type="body" idx="1"/>
          </p:nvPr>
        </p:nvSpPr>
        <p:spPr>
          <a:xfrm>
            <a:off x="3436295" y="649480"/>
            <a:ext cx="2268977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342900" lvl="0" indent="-248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Capital &amp; Operating Expenditure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 err="1"/>
              <a:t>CapEx</a:t>
            </a:r>
            <a:r>
              <a:rPr lang="en-US" sz="1600" b="1" dirty="0"/>
              <a:t> (One-time): </a:t>
            </a:r>
            <a:r>
              <a:rPr lang="en-US" sz="1600" dirty="0"/>
              <a:t>€305,000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 err="1"/>
              <a:t>OpEx</a:t>
            </a:r>
            <a:r>
              <a:rPr lang="en-US" sz="1600" b="1" dirty="0"/>
              <a:t> (Monthly):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dirty="0"/>
              <a:t>€55,167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Return on Investment (ROI)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sz="1600" b="1" dirty="0"/>
              <a:t>Optimistic Scenario: </a:t>
            </a:r>
            <a:r>
              <a:rPr lang="en-US" sz="1600" dirty="0"/>
              <a:t>ROI &gt;100%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dirty="0"/>
              <a:t>(High profitability)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2. Base Scenario: </a:t>
            </a:r>
            <a:r>
              <a:rPr lang="en-US" sz="1600" dirty="0"/>
              <a:t>Moderate ROI 30%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dirty="0"/>
              <a:t> (Sustainable returns)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3. Pessimistic Scenario: </a:t>
            </a:r>
            <a:r>
              <a:rPr lang="en-US" sz="1600" dirty="0"/>
              <a:t>Negative ROI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dirty="0"/>
              <a:t>(Financial risk)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Break-even Analysis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1. Optimistic</a:t>
            </a:r>
            <a:r>
              <a:rPr lang="en-US" sz="1600" dirty="0"/>
              <a:t>: Break-even in 2 months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2. Base: </a:t>
            </a:r>
            <a:r>
              <a:rPr lang="en-US" sz="1600" dirty="0"/>
              <a:t>Break-even in 15 months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/>
              <a:t>3. Pessimistic: </a:t>
            </a:r>
            <a:r>
              <a:rPr lang="en-US" sz="1600" dirty="0"/>
              <a:t>Break-even not achievable within 24 months</a:t>
            </a:r>
            <a:endParaRPr dirty="0"/>
          </a:p>
        </p:txBody>
      </p:sp>
      <p:pic>
        <p:nvPicPr>
          <p:cNvPr id="219" name="Google Shape;219;p9" descr="Mone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2126" y="2079023"/>
            <a:ext cx="2711832" cy="2711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lang="en-GB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GB" sz="3500" b="1" dirty="0">
                <a:solidFill>
                  <a:srgbClr val="FFFFFF"/>
                </a:solidFill>
              </a:rPr>
              <a:t>Key Findings: Market</a:t>
            </a:r>
            <a:endParaRPr b="1" dirty="0"/>
          </a:p>
        </p:txBody>
      </p:sp>
      <p:grpSp>
        <p:nvGrpSpPr>
          <p:cNvPr id="234" name="Google Shape;234;p10"/>
          <p:cNvGrpSpPr/>
          <p:nvPr/>
        </p:nvGrpSpPr>
        <p:grpSpPr>
          <a:xfrm>
            <a:off x="485584" y="4283020"/>
            <a:ext cx="8190786" cy="883254"/>
            <a:chOff x="2542" y="2170441"/>
            <a:chExt cx="8190786" cy="883254"/>
          </a:xfrm>
        </p:grpSpPr>
        <p:sp>
          <p:nvSpPr>
            <p:cNvPr id="236" name="Google Shape;236;p10"/>
            <p:cNvSpPr/>
            <p:nvPr/>
          </p:nvSpPr>
          <p:spPr>
            <a:xfrm>
              <a:off x="2542" y="2221218"/>
              <a:ext cx="3235727" cy="815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3529890" y="2170441"/>
              <a:ext cx="2341717" cy="8832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6163229" y="2177947"/>
              <a:ext cx="2030099" cy="8732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8;p7">
            <a:extLst>
              <a:ext uri="{FF2B5EF4-FFF2-40B4-BE49-F238E27FC236}">
                <a16:creationId xmlns:a16="http://schemas.microsoft.com/office/drawing/2014/main" id="{0FA27F63-861E-DF93-2F25-4B7D07A7368D}"/>
              </a:ext>
            </a:extLst>
          </p:cNvPr>
          <p:cNvGrpSpPr/>
          <p:nvPr/>
        </p:nvGrpSpPr>
        <p:grpSpPr>
          <a:xfrm>
            <a:off x="1277858" y="2247683"/>
            <a:ext cx="6585996" cy="3651418"/>
            <a:chOff x="650351" y="349959"/>
            <a:chExt cx="6585996" cy="3651418"/>
          </a:xfrm>
        </p:grpSpPr>
        <p:sp>
          <p:nvSpPr>
            <p:cNvPr id="3" name="Google Shape;179;p7">
              <a:extLst>
                <a:ext uri="{FF2B5EF4-FFF2-40B4-BE49-F238E27FC236}">
                  <a16:creationId xmlns:a16="http://schemas.microsoft.com/office/drawing/2014/main" id="{C03C795D-6729-575C-9609-D9BC64677B7B}"/>
                </a:ext>
              </a:extLst>
            </p:cNvPr>
            <p:cNvSpPr/>
            <p:nvPr/>
          </p:nvSpPr>
          <p:spPr>
            <a:xfrm>
              <a:off x="1050605" y="349959"/>
              <a:ext cx="654960" cy="65496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80;p7">
              <a:extLst>
                <a:ext uri="{FF2B5EF4-FFF2-40B4-BE49-F238E27FC236}">
                  <a16:creationId xmlns:a16="http://schemas.microsoft.com/office/drawing/2014/main" id="{5CEDA2C3-00B6-9A97-BD87-C67C7CAA4744}"/>
                </a:ext>
              </a:extLst>
            </p:cNvPr>
            <p:cNvSpPr/>
            <p:nvPr/>
          </p:nvSpPr>
          <p:spPr>
            <a:xfrm>
              <a:off x="650351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81;p7">
              <a:extLst>
                <a:ext uri="{FF2B5EF4-FFF2-40B4-BE49-F238E27FC236}">
                  <a16:creationId xmlns:a16="http://schemas.microsoft.com/office/drawing/2014/main" id="{F5E72874-A6CB-9515-1278-359DE571ED3C}"/>
                </a:ext>
              </a:extLst>
            </p:cNvPr>
            <p:cNvSpPr txBox="1"/>
            <p:nvPr/>
          </p:nvSpPr>
          <p:spPr>
            <a:xfrm>
              <a:off x="650351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Market Potential: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Lisbon exhibits high demand for organic products, especially among young adults and families.</a:t>
              </a:r>
              <a:endParaRPr/>
            </a:p>
          </p:txBody>
        </p:sp>
        <p:sp>
          <p:nvSpPr>
            <p:cNvPr id="6" name="Google Shape;182;p7">
              <a:extLst>
                <a:ext uri="{FF2B5EF4-FFF2-40B4-BE49-F238E27FC236}">
                  <a16:creationId xmlns:a16="http://schemas.microsoft.com/office/drawing/2014/main" id="{86FA4B13-E81E-1520-AB6A-DB47DC38F07A}"/>
                </a:ext>
              </a:extLst>
            </p:cNvPr>
            <p:cNvSpPr/>
            <p:nvPr/>
          </p:nvSpPr>
          <p:spPr>
            <a:xfrm>
              <a:off x="2760781" y="349959"/>
              <a:ext cx="654960" cy="65496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83;p7">
              <a:extLst>
                <a:ext uri="{FF2B5EF4-FFF2-40B4-BE49-F238E27FC236}">
                  <a16:creationId xmlns:a16="http://schemas.microsoft.com/office/drawing/2014/main" id="{F3BBEF51-D6AB-A046-2C13-F7817BA685BB}"/>
                </a:ext>
              </a:extLst>
            </p:cNvPr>
            <p:cNvSpPr/>
            <p:nvPr/>
          </p:nvSpPr>
          <p:spPr>
            <a:xfrm>
              <a:off x="2360527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4;p7">
              <a:extLst>
                <a:ext uri="{FF2B5EF4-FFF2-40B4-BE49-F238E27FC236}">
                  <a16:creationId xmlns:a16="http://schemas.microsoft.com/office/drawing/2014/main" id="{693178A1-71B1-84BE-B587-4A73AE4D2541}"/>
                </a:ext>
              </a:extLst>
            </p:cNvPr>
            <p:cNvSpPr txBox="1"/>
            <p:nvPr/>
          </p:nvSpPr>
          <p:spPr>
            <a:xfrm>
              <a:off x="2360527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Strong interest in loyalty programs (</a:t>
              </a:r>
              <a:r>
                <a:rPr lang="en-US" sz="13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GroPoints</a:t>
              </a:r>
              <a:r>
                <a:rPr lang="en-US" sz="13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across personas.</a:t>
              </a:r>
              <a:endParaRPr dirty="0"/>
            </a:p>
          </p:txBody>
        </p:sp>
        <p:sp>
          <p:nvSpPr>
            <p:cNvPr id="9" name="Google Shape;185;p7">
              <a:extLst>
                <a:ext uri="{FF2B5EF4-FFF2-40B4-BE49-F238E27FC236}">
                  <a16:creationId xmlns:a16="http://schemas.microsoft.com/office/drawing/2014/main" id="{7313F5E6-C92B-87A0-D987-E3D580DC7E09}"/>
                </a:ext>
              </a:extLst>
            </p:cNvPr>
            <p:cNvSpPr/>
            <p:nvPr/>
          </p:nvSpPr>
          <p:spPr>
            <a:xfrm>
              <a:off x="4470957" y="349959"/>
              <a:ext cx="654960" cy="65496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6;p7">
              <a:extLst>
                <a:ext uri="{FF2B5EF4-FFF2-40B4-BE49-F238E27FC236}">
                  <a16:creationId xmlns:a16="http://schemas.microsoft.com/office/drawing/2014/main" id="{AA2DF1B8-C2FF-BED9-B168-0CE160E0A491}"/>
                </a:ext>
              </a:extLst>
            </p:cNvPr>
            <p:cNvSpPr/>
            <p:nvPr/>
          </p:nvSpPr>
          <p:spPr>
            <a:xfrm>
              <a:off x="4070703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7;p7">
              <a:extLst>
                <a:ext uri="{FF2B5EF4-FFF2-40B4-BE49-F238E27FC236}">
                  <a16:creationId xmlns:a16="http://schemas.microsoft.com/office/drawing/2014/main" id="{C2E0C28E-F6B9-5756-E7CA-BF976E9FD26B}"/>
                </a:ext>
              </a:extLst>
            </p:cNvPr>
            <p:cNvSpPr txBox="1"/>
            <p:nvPr/>
          </p:nvSpPr>
          <p:spPr>
            <a:xfrm>
              <a:off x="4070703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Competitive Landscape</a:t>
              </a:r>
              <a:r>
                <a:rPr lang="en-US" sz="12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 dirty="0"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Existing retail Chains: Pingo Doce, Continente, and Lidl dominate the Lisbon market.</a:t>
              </a:r>
              <a:endParaRPr dirty="0"/>
            </a:p>
          </p:txBody>
        </p:sp>
        <p:sp>
          <p:nvSpPr>
            <p:cNvPr id="12" name="Google Shape;188;p7">
              <a:extLst>
                <a:ext uri="{FF2B5EF4-FFF2-40B4-BE49-F238E27FC236}">
                  <a16:creationId xmlns:a16="http://schemas.microsoft.com/office/drawing/2014/main" id="{84A425D3-619B-4BAC-E298-6A04D1C2CC4B}"/>
                </a:ext>
              </a:extLst>
            </p:cNvPr>
            <p:cNvSpPr/>
            <p:nvPr/>
          </p:nvSpPr>
          <p:spPr>
            <a:xfrm>
              <a:off x="6181133" y="349959"/>
              <a:ext cx="654960" cy="65496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9;p7">
              <a:extLst>
                <a:ext uri="{FF2B5EF4-FFF2-40B4-BE49-F238E27FC236}">
                  <a16:creationId xmlns:a16="http://schemas.microsoft.com/office/drawing/2014/main" id="{6194E084-2087-5A6E-0514-A23D6DD93F51}"/>
                </a:ext>
              </a:extLst>
            </p:cNvPr>
            <p:cNvSpPr/>
            <p:nvPr/>
          </p:nvSpPr>
          <p:spPr>
            <a:xfrm>
              <a:off x="5780879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0;p7">
              <a:extLst>
                <a:ext uri="{FF2B5EF4-FFF2-40B4-BE49-F238E27FC236}">
                  <a16:creationId xmlns:a16="http://schemas.microsoft.com/office/drawing/2014/main" id="{4E1A1E2C-091F-0F6E-FA0D-BF1A3B1BD50E}"/>
                </a:ext>
              </a:extLst>
            </p:cNvPr>
            <p:cNvSpPr txBox="1"/>
            <p:nvPr/>
          </p:nvSpPr>
          <p:spPr>
            <a:xfrm>
              <a:off x="5780879" y="1266001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Gap in Premium Organic Space</a:t>
              </a: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Limited competition in the mid-tier premium organic market.</a:t>
              </a:r>
              <a:endParaRPr/>
            </a:p>
          </p:txBody>
        </p:sp>
        <p:sp>
          <p:nvSpPr>
            <p:cNvPr id="15" name="Google Shape;192;p7">
              <a:extLst>
                <a:ext uri="{FF2B5EF4-FFF2-40B4-BE49-F238E27FC236}">
                  <a16:creationId xmlns:a16="http://schemas.microsoft.com/office/drawing/2014/main" id="{AF9685F7-46BD-1D9E-AA3D-B989AC8651BD}"/>
                </a:ext>
              </a:extLst>
            </p:cNvPr>
            <p:cNvSpPr/>
            <p:nvPr/>
          </p:nvSpPr>
          <p:spPr>
            <a:xfrm>
              <a:off x="3215615" y="3273643"/>
              <a:ext cx="1455468" cy="72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1846BC6B-64B4-A780-E760-6C7A396C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>
            <a:extLst>
              <a:ext uri="{FF2B5EF4-FFF2-40B4-BE49-F238E27FC236}">
                <a16:creationId xmlns:a16="http://schemas.microsoft.com/office/drawing/2014/main" id="{D03B451C-5EF6-3220-1B0F-3361A6E5F52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lang="en-GB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>
            <a:extLst>
              <a:ext uri="{FF2B5EF4-FFF2-40B4-BE49-F238E27FC236}">
                <a16:creationId xmlns:a16="http://schemas.microsoft.com/office/drawing/2014/main" id="{F1D301E5-8599-1691-CBDD-A2D33A2F5371}"/>
              </a:ext>
            </a:extLst>
          </p:cNvPr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>
            <a:extLst>
              <a:ext uri="{FF2B5EF4-FFF2-40B4-BE49-F238E27FC236}">
                <a16:creationId xmlns:a16="http://schemas.microsoft.com/office/drawing/2014/main" id="{B3C860FC-37B4-35B2-8A53-DC930AB1B739}"/>
              </a:ext>
            </a:extLst>
          </p:cNvPr>
          <p:cNvSpPr/>
          <p:nvPr/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>
            <a:extLst>
              <a:ext uri="{FF2B5EF4-FFF2-40B4-BE49-F238E27FC236}">
                <a16:creationId xmlns:a16="http://schemas.microsoft.com/office/drawing/2014/main" id="{618B6C90-36EC-4521-C85C-93F23DB24A65}"/>
              </a:ext>
            </a:extLst>
          </p:cNvPr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>
            <a:extLst>
              <a:ext uri="{FF2B5EF4-FFF2-40B4-BE49-F238E27FC236}">
                <a16:creationId xmlns:a16="http://schemas.microsoft.com/office/drawing/2014/main" id="{2B8E93F2-E968-3BCB-BBDD-772BC35F90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GB" sz="3500" b="1" dirty="0">
                <a:solidFill>
                  <a:srgbClr val="FFFFFF"/>
                </a:solidFill>
              </a:rPr>
              <a:t>Key Findings: HR</a:t>
            </a:r>
            <a:endParaRPr b="1" dirty="0"/>
          </a:p>
        </p:txBody>
      </p:sp>
      <p:grpSp>
        <p:nvGrpSpPr>
          <p:cNvPr id="234" name="Google Shape;234;p10">
            <a:extLst>
              <a:ext uri="{FF2B5EF4-FFF2-40B4-BE49-F238E27FC236}">
                <a16:creationId xmlns:a16="http://schemas.microsoft.com/office/drawing/2014/main" id="{765C4FA5-6326-1ED4-9D1A-1485B2F09703}"/>
              </a:ext>
            </a:extLst>
          </p:cNvPr>
          <p:cNvGrpSpPr/>
          <p:nvPr/>
        </p:nvGrpSpPr>
        <p:grpSpPr>
          <a:xfrm>
            <a:off x="485584" y="3251687"/>
            <a:ext cx="8190786" cy="1914587"/>
            <a:chOff x="2542" y="1139108"/>
            <a:chExt cx="8190786" cy="1914587"/>
          </a:xfrm>
        </p:grpSpPr>
        <p:sp>
          <p:nvSpPr>
            <p:cNvPr id="235" name="Google Shape;235;p10">
              <a:extLst>
                <a:ext uri="{FF2B5EF4-FFF2-40B4-BE49-F238E27FC236}">
                  <a16:creationId xmlns:a16="http://schemas.microsoft.com/office/drawing/2014/main" id="{77322E3C-AD1A-C8CC-9F9E-3B72710C340E}"/>
                </a:ext>
              </a:extLst>
            </p:cNvPr>
            <p:cNvSpPr/>
            <p:nvPr/>
          </p:nvSpPr>
          <p:spPr>
            <a:xfrm>
              <a:off x="1245464" y="1156034"/>
              <a:ext cx="749882" cy="74988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>
              <a:extLst>
                <a:ext uri="{FF2B5EF4-FFF2-40B4-BE49-F238E27FC236}">
                  <a16:creationId xmlns:a16="http://schemas.microsoft.com/office/drawing/2014/main" id="{0C56864D-DB84-23FC-A268-B2331675429F}"/>
                </a:ext>
              </a:extLst>
            </p:cNvPr>
            <p:cNvSpPr/>
            <p:nvPr/>
          </p:nvSpPr>
          <p:spPr>
            <a:xfrm>
              <a:off x="2542" y="2221218"/>
              <a:ext cx="3235727" cy="815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>
              <a:extLst>
                <a:ext uri="{FF2B5EF4-FFF2-40B4-BE49-F238E27FC236}">
                  <a16:creationId xmlns:a16="http://schemas.microsoft.com/office/drawing/2014/main" id="{A4F293C7-1FD7-C674-5EA4-ED5B3685C156}"/>
                </a:ext>
              </a:extLst>
            </p:cNvPr>
            <p:cNvSpPr txBox="1"/>
            <p:nvPr/>
          </p:nvSpPr>
          <p:spPr>
            <a:xfrm>
              <a:off x="2542" y="2221218"/>
              <a:ext cx="3235727" cy="815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Hiring Strategy: </a:t>
              </a:r>
              <a:endParaRPr dirty="0"/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Use a phased recruitment approach</a:t>
              </a:r>
              <a:endParaRPr dirty="0"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Partner with local job boards and staffing agencies to reduce time-to-hire</a:t>
              </a:r>
              <a:endParaRPr dirty="0"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3. Offer competitive packages including health, bonuses, and non-cash benefits </a:t>
              </a:r>
              <a:endParaRPr dirty="0"/>
            </a:p>
          </p:txBody>
        </p:sp>
        <p:sp>
          <p:nvSpPr>
            <p:cNvPr id="238" name="Google Shape;238;p10">
              <a:extLst>
                <a:ext uri="{FF2B5EF4-FFF2-40B4-BE49-F238E27FC236}">
                  <a16:creationId xmlns:a16="http://schemas.microsoft.com/office/drawing/2014/main" id="{B3820EB5-4760-1070-E15B-4F9C6EBABECA}"/>
                </a:ext>
              </a:extLst>
            </p:cNvPr>
            <p:cNvSpPr/>
            <p:nvPr/>
          </p:nvSpPr>
          <p:spPr>
            <a:xfrm>
              <a:off x="4325808" y="1139108"/>
              <a:ext cx="749882" cy="74988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>
              <a:extLst>
                <a:ext uri="{FF2B5EF4-FFF2-40B4-BE49-F238E27FC236}">
                  <a16:creationId xmlns:a16="http://schemas.microsoft.com/office/drawing/2014/main" id="{AEE21640-22D8-03DD-44FA-34B110FD2B58}"/>
                </a:ext>
              </a:extLst>
            </p:cNvPr>
            <p:cNvSpPr/>
            <p:nvPr/>
          </p:nvSpPr>
          <p:spPr>
            <a:xfrm>
              <a:off x="3529890" y="2170441"/>
              <a:ext cx="2341717" cy="8832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0">
              <a:extLst>
                <a:ext uri="{FF2B5EF4-FFF2-40B4-BE49-F238E27FC236}">
                  <a16:creationId xmlns:a16="http://schemas.microsoft.com/office/drawing/2014/main" id="{18AE0498-DC94-3BB8-F073-F9AE7E304C8B}"/>
                </a:ext>
              </a:extLst>
            </p:cNvPr>
            <p:cNvSpPr txBox="1"/>
            <p:nvPr/>
          </p:nvSpPr>
          <p:spPr>
            <a:xfrm>
              <a:off x="3529890" y="2170441"/>
              <a:ext cx="2341717" cy="8832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Labour Law Compliance: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Adhere to Portuguese labour law covering: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Employment Contracts, Minimum Wage, Social Security Contributions, Language Requirements, Workplace Policies.</a:t>
              </a:r>
              <a:endParaRPr/>
            </a:p>
          </p:txBody>
        </p:sp>
        <p:sp>
          <p:nvSpPr>
            <p:cNvPr id="241" name="Google Shape;241;p10">
              <a:extLst>
                <a:ext uri="{FF2B5EF4-FFF2-40B4-BE49-F238E27FC236}">
                  <a16:creationId xmlns:a16="http://schemas.microsoft.com/office/drawing/2014/main" id="{BFBCE255-D586-2891-708E-84525B52D30A}"/>
                </a:ext>
              </a:extLst>
            </p:cNvPr>
            <p:cNvSpPr/>
            <p:nvPr/>
          </p:nvSpPr>
          <p:spPr>
            <a:xfrm>
              <a:off x="6803337" y="1141610"/>
              <a:ext cx="749882" cy="74988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0">
              <a:extLst>
                <a:ext uri="{FF2B5EF4-FFF2-40B4-BE49-F238E27FC236}">
                  <a16:creationId xmlns:a16="http://schemas.microsoft.com/office/drawing/2014/main" id="{2FC08730-B976-2850-3AA3-79FB1337F98A}"/>
                </a:ext>
              </a:extLst>
            </p:cNvPr>
            <p:cNvSpPr/>
            <p:nvPr/>
          </p:nvSpPr>
          <p:spPr>
            <a:xfrm>
              <a:off x="6163229" y="2177947"/>
              <a:ext cx="2030099" cy="8732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0">
              <a:extLst>
                <a:ext uri="{FF2B5EF4-FFF2-40B4-BE49-F238E27FC236}">
                  <a16:creationId xmlns:a16="http://schemas.microsoft.com/office/drawing/2014/main" id="{63DE90CE-41E2-140D-E624-7FB2E3AF19C3}"/>
                </a:ext>
              </a:extLst>
            </p:cNvPr>
            <p:cNvSpPr txBox="1"/>
            <p:nvPr/>
          </p:nvSpPr>
          <p:spPr>
            <a:xfrm>
              <a:off x="6163229" y="2177947"/>
              <a:ext cx="2030099" cy="8732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Onboarding Plan: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Implement a 2-week structured onboarding program covering: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Company orientation, safety compliance, team integration, Role-specific training, customer service expectations, and job shadowing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9972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6" descr="A screenshot of a graph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6413"/>
            <a:ext cx="9144000" cy="5029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8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3122"/>
            <a:ext cx="9144000" cy="5931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Risk and Mitigation</a:t>
            </a:r>
            <a:endParaRPr/>
          </a:p>
        </p:txBody>
      </p:sp>
      <p:grpSp>
        <p:nvGrpSpPr>
          <p:cNvPr id="286" name="Google Shape;286;p12"/>
          <p:cNvGrpSpPr/>
          <p:nvPr/>
        </p:nvGrpSpPr>
        <p:grpSpPr>
          <a:xfrm>
            <a:off x="487998" y="3315948"/>
            <a:ext cx="8185957" cy="1786065"/>
            <a:chOff x="4956" y="1203369"/>
            <a:chExt cx="8185957" cy="1786065"/>
          </a:xfrm>
        </p:grpSpPr>
        <p:sp>
          <p:nvSpPr>
            <p:cNvPr id="287" name="Google Shape;287;p12"/>
            <p:cNvSpPr/>
            <p:nvPr/>
          </p:nvSpPr>
          <p:spPr>
            <a:xfrm>
              <a:off x="399893" y="1203369"/>
              <a:ext cx="646259" cy="64625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4956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2"/>
            <p:cNvSpPr txBox="1"/>
            <p:nvPr/>
          </p:nvSpPr>
          <p:spPr>
            <a:xfrm>
              <a:off x="4956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 Constraints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Initiate legal process early, adopt a phased rollout &amp; ensure weekly cross-functional sync </a:t>
              </a:r>
              <a:endPara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2"/>
            <p:cNvSpPr/>
            <p:nvPr/>
          </p:nvSpPr>
          <p:spPr>
            <a:xfrm>
              <a:off x="2087349" y="1203369"/>
              <a:ext cx="646259" cy="64625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2"/>
            <p:cNvSpPr/>
            <p:nvPr/>
          </p:nvSpPr>
          <p:spPr>
            <a:xfrm>
              <a:off x="1692413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2"/>
            <p:cNvSpPr txBox="1"/>
            <p:nvPr/>
          </p:nvSpPr>
          <p:spPr>
            <a:xfrm>
              <a:off x="1692413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Budget Constraints:</a:t>
              </a:r>
              <a:endParaRPr dirty="0"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Prioritise</a:t>
              </a: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essentials, implement cost-control measures &amp; negotiate rates with vendors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dd a 10% buffer to the budget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2"/>
            <p:cNvSpPr/>
            <p:nvPr/>
          </p:nvSpPr>
          <p:spPr>
            <a:xfrm>
              <a:off x="3774805" y="1203369"/>
              <a:ext cx="646259" cy="64625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2"/>
            <p:cNvSpPr/>
            <p:nvPr/>
          </p:nvSpPr>
          <p:spPr>
            <a:xfrm>
              <a:off x="3379869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2"/>
            <p:cNvSpPr txBox="1"/>
            <p:nvPr/>
          </p:nvSpPr>
          <p:spPr>
            <a:xfrm>
              <a:off x="3379869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Legal &amp; Compliance Constraints:</a:t>
              </a:r>
              <a:endParaRPr dirty="0"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Comply fully with Portuguese </a:t>
              </a: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labour</a:t>
              </a: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laws and partner with local HR consultant</a:t>
              </a:r>
              <a:endParaRPr dirty="0"/>
            </a:p>
          </p:txBody>
        </p:sp>
        <p:sp>
          <p:nvSpPr>
            <p:cNvPr id="296" name="Google Shape;296;p12"/>
            <p:cNvSpPr/>
            <p:nvPr/>
          </p:nvSpPr>
          <p:spPr>
            <a:xfrm>
              <a:off x="5462261" y="1203369"/>
              <a:ext cx="646259" cy="64625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2"/>
            <p:cNvSpPr/>
            <p:nvPr/>
          </p:nvSpPr>
          <p:spPr>
            <a:xfrm>
              <a:off x="5067325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2"/>
            <p:cNvSpPr txBox="1"/>
            <p:nvPr/>
          </p:nvSpPr>
          <p:spPr>
            <a:xfrm>
              <a:off x="5067325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Operational &amp; Resource Constraints</a:t>
              </a:r>
              <a:r>
                <a:rPr lang="en-U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Localize systems and training, partner with bilingual recruitment and logistics providers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7149717" y="1203369"/>
              <a:ext cx="646259" cy="64625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6754781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6754781" y="2117657"/>
              <a:ext cx="1436132" cy="87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Technical Constraints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POS, inventory, and reporting systems must be fully integrated before launch.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0">
                <a:srgbClr val="4F81BD">
                  <a:alpha val="28627"/>
                </a:srgbClr>
              </a:gs>
              <a:gs pos="2000">
                <a:srgbClr val="4F81BD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-964587">
            <a:off x="-376302" y="969718"/>
            <a:ext cx="292526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FFFFFF"/>
                </a:solidFill>
              </a:rPr>
              <a:t>Recommendations</a:t>
            </a:r>
            <a:endParaRPr/>
          </a:p>
        </p:txBody>
      </p:sp>
      <p:sp>
        <p:nvSpPr>
          <p:cNvPr id="313" name="Google Shape;313;p13"/>
          <p:cNvSpPr txBox="1">
            <a:spLocks noGrp="1"/>
          </p:cNvSpPr>
          <p:nvPr>
            <p:ph type="body" idx="1"/>
          </p:nvPr>
        </p:nvSpPr>
        <p:spPr>
          <a:xfrm>
            <a:off x="3968098" y="666114"/>
            <a:ext cx="4749182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900"/>
          </a:p>
          <a:p>
            <a:pPr marL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/>
              <a:t>Market Entry: Go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b="1"/>
          </a:p>
          <a:p>
            <a:pPr marL="0" lvl="0" indent="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/>
              <a:t>Market data-driven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1. Strong demand for organic products in Lisbon, especially among young professionals and families.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2. Loyalty program (GroPoints) has high engagement potential.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3. A competitive gap exists in the mid-tier organic retail market.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4. Favourable regulatory climate for retail growth.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/>
              <a:t>Financial Viability: Sustainable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1. The base scenario shows positive ROI and break-even within 15 months.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2. Optimistic case yields rapid profit within 2 months.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3. The pessimistic case is not viable but manageable with cost control and revenue strategies.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/>
              <a:t>HR Readiness: Ready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1. Talent is available for bilingual retail staff.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2. Legal onboarding, localised training, and compliance processes are prioritised.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3. Salary benchmarks and role definitions are clearly outlined.</a:t>
            </a:r>
            <a:endParaRPr/>
          </a:p>
        </p:txBody>
      </p:sp>
      <p:pic>
        <p:nvPicPr>
          <p:cNvPr id="314" name="Google Shape;314;p13" descr="Business Growt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041" y="1146947"/>
            <a:ext cx="2012158" cy="2012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14" descr="A close-up of a blue and white striped fabric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13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0" y="0"/>
            <a:ext cx="9147601" cy="6858000"/>
          </a:xfrm>
          <a:prstGeom prst="rect">
            <a:avLst/>
          </a:prstGeom>
          <a:gradFill>
            <a:gsLst>
              <a:gs pos="0">
                <a:srgbClr val="EEECE1">
                  <a:alpha val="83921"/>
                </a:srgbClr>
              </a:gs>
              <a:gs pos="28000">
                <a:srgbClr val="EEECE1">
                  <a:alpha val="83921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F2F2F2"/>
                </a:solidFill>
              </a:rPr>
              <a:t>Conclusion</a:t>
            </a:r>
            <a:endParaRPr/>
          </a:p>
        </p:txBody>
      </p:sp>
      <p:grpSp>
        <p:nvGrpSpPr>
          <p:cNvPr id="322" name="Google Shape;322;p14"/>
          <p:cNvGrpSpPr/>
          <p:nvPr/>
        </p:nvGrpSpPr>
        <p:grpSpPr>
          <a:xfrm>
            <a:off x="700286" y="2358673"/>
            <a:ext cx="7815063" cy="3735219"/>
            <a:chOff x="71636" y="533048"/>
            <a:chExt cx="7815063" cy="3735219"/>
          </a:xfrm>
        </p:grpSpPr>
        <p:sp>
          <p:nvSpPr>
            <p:cNvPr id="323" name="Google Shape;323;p14"/>
            <p:cNvSpPr/>
            <p:nvPr/>
          </p:nvSpPr>
          <p:spPr>
            <a:xfrm>
              <a:off x="71636" y="621539"/>
              <a:ext cx="654908" cy="654908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209167" y="759070"/>
              <a:ext cx="379847" cy="37984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866882" y="621539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 txBox="1"/>
            <p:nvPr/>
          </p:nvSpPr>
          <p:spPr>
            <a:xfrm>
              <a:off x="866882" y="621539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A comprehensive cross-functional assessment was conducted over 2 weeks, covering market demand, financial sustainability, HR readiness, stakeholder needs, and operational risks.</a:t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2679576" y="621539"/>
              <a:ext cx="654908" cy="6549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2817107" y="759070"/>
              <a:ext cx="379847" cy="37984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3474822" y="621539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 txBox="1"/>
            <p:nvPr/>
          </p:nvSpPr>
          <p:spPr>
            <a:xfrm>
              <a:off x="3474822" y="621539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feasibility study utilised Power BI analytics, financial modelling, stakeholder interviews, and HR benchmarking to inform strategic decisions.</a:t>
              </a: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5287516" y="621539"/>
              <a:ext cx="654908" cy="6549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5425046" y="759070"/>
              <a:ext cx="379847" cy="37984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5965811" y="533048"/>
              <a:ext cx="1920888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 txBox="1"/>
            <p:nvPr/>
          </p:nvSpPr>
          <p:spPr>
            <a:xfrm>
              <a:off x="5965811" y="533048"/>
              <a:ext cx="1920888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Recommendation: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71636" y="2102700"/>
              <a:ext cx="654908" cy="654908"/>
            </a:xfrm>
            <a:prstGeom prst="ellipse">
              <a:avLst/>
            </a:prstGeom>
            <a:solidFill>
              <a:srgbClr val="49AC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209167" y="2240231"/>
              <a:ext cx="379847" cy="37984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896383" y="2240355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 txBox="1"/>
            <p:nvPr/>
          </p:nvSpPr>
          <p:spPr>
            <a:xfrm>
              <a:off x="896383" y="2240355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 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Market conditions are highly favourable, with strong customer demand and limited competition in EuroGro’s organic target niche.</a:t>
              </a: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2679576" y="2102700"/>
              <a:ext cx="654908" cy="654908"/>
            </a:xfrm>
            <a:prstGeom prst="ellipse">
              <a:avLst/>
            </a:prstGeom>
            <a:solidFill>
              <a:srgbClr val="F79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2817107" y="2240231"/>
              <a:ext cx="379847" cy="37984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3474822" y="2102700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 txBox="1"/>
            <p:nvPr/>
          </p:nvSpPr>
          <p:spPr>
            <a:xfrm>
              <a:off x="3474822" y="2102700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Financial forecasts under the Base scenario show sustainable profitability and an acceptable break-even period (15 months).</a:t>
              </a: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5287516" y="2102700"/>
              <a:ext cx="654908" cy="654908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5425046" y="2240231"/>
              <a:ext cx="379847" cy="37984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082762" y="2102700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 txBox="1"/>
            <p:nvPr/>
          </p:nvSpPr>
          <p:spPr>
            <a:xfrm>
              <a:off x="6082762" y="2102700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 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HR Hiring and Onboarding plan are ready, with localisation and legal compliance defined</a:t>
              </a: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2795172" y="3603528"/>
              <a:ext cx="654908" cy="65490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2913040" y="3780390"/>
              <a:ext cx="379847" cy="37984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3490161" y="3613359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3490161" y="3613359"/>
              <a:ext cx="1543713" cy="65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Final Decision: </a:t>
              </a: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Proceed with the Lisbon flagship store launch under the Base Case scenario, supported by clear risk mitigations and a phased operational rollout.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2" name="Rectangle 36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9" name="Rectangle 36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2" name="Freeform: Shape 37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Google Shape;356;g35d9748ba5b_6_0"/>
          <p:cNvSpPr txBox="1"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Appendices</a:t>
            </a:r>
          </a:p>
        </p:txBody>
      </p:sp>
      <p:sp>
        <p:nvSpPr>
          <p:cNvPr id="357" name="Google Shape;357;g35d9748ba5b_6_0"/>
          <p:cNvSpPr txBox="1">
            <a:spLocks noGrp="1"/>
          </p:cNvSpPr>
          <p:nvPr>
            <p:ph type="body" idx="1"/>
          </p:nvPr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342900" lvl="0" indent="0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GB" sz="1700" dirty="0"/>
              <a:t>This is the link to all the documents for this feasibility report:</a:t>
            </a:r>
          </a:p>
          <a:p>
            <a:pPr marL="342900" lvl="0" indent="0" rtl="0">
              <a:spcBef>
                <a:spcPts val="640"/>
              </a:spcBef>
              <a:spcAft>
                <a:spcPts val="0"/>
              </a:spcAft>
              <a:buNone/>
            </a:pPr>
            <a:endParaRPr lang="en-GB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52F87-B3D7-DEF1-F4BD-CB3F74543B71}"/>
              </a:ext>
            </a:extLst>
          </p:cNvPr>
          <p:cNvSpPr txBox="1"/>
          <p:nvPr/>
        </p:nvSpPr>
        <p:spPr>
          <a:xfrm>
            <a:off x="3835361" y="3712742"/>
            <a:ext cx="4689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https://tinyurl.com/mryr4t37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1061</Words>
  <Application>Microsoft Office PowerPoint</Application>
  <PresentationFormat>On-screen Show (4:3)</PresentationFormat>
  <Paragraphs>127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Executive Summary</vt:lpstr>
      <vt:lpstr>Project Overview</vt:lpstr>
      <vt:lpstr>Project Objectives</vt:lpstr>
      <vt:lpstr>Methodology</vt:lpstr>
      <vt:lpstr>Stakeholder Needs</vt:lpstr>
      <vt:lpstr>Key Findings: Finance </vt:lpstr>
      <vt:lpstr>Key Findings: Market</vt:lpstr>
      <vt:lpstr>Key Findings: HR</vt:lpstr>
      <vt:lpstr>PowerPoint Presentation</vt:lpstr>
      <vt:lpstr>PowerPoint Presentation</vt:lpstr>
      <vt:lpstr>Risk and Mitigation</vt:lpstr>
      <vt:lpstr>Recommendations</vt:lpstr>
      <vt:lpstr>Conclusion</vt:lpstr>
      <vt:lpstr>Appendices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Adeola Fayemi</dc:creator>
  <cp:lastModifiedBy>Adeola Fayemi</cp:lastModifiedBy>
  <cp:revision>2</cp:revision>
  <dcterms:created xsi:type="dcterms:W3CDTF">2013-01-27T09:14:16Z</dcterms:created>
  <dcterms:modified xsi:type="dcterms:W3CDTF">2025-05-26T22:18:52Z</dcterms:modified>
</cp:coreProperties>
</file>